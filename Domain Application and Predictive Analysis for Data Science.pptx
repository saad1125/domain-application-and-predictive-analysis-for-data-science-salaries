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2" r:id="rId6"/>
    <p:sldId id="260" r:id="rId7"/>
    <p:sldId id="261"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134280-D2A4-49D4-BCB1-862326792BBF}"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F362942E-C2C8-4E7D-AF0D-0BD23FA88F98}">
      <dgm:prSet/>
      <dgm:spPr/>
      <dgm:t>
        <a:bodyPr/>
        <a:lstStyle/>
        <a:p>
          <a:r>
            <a:rPr lang="en-US"/>
            <a:t>How precise are the salary projections made using machine learning algorithms and the dataset? </a:t>
          </a:r>
        </a:p>
      </dgm:t>
    </dgm:pt>
    <dgm:pt modelId="{9BA63C47-4D4D-48A5-A431-9F9F1E8A97A3}" type="parTrans" cxnId="{BC6015BA-1FE0-48FA-A081-6380079E5304}">
      <dgm:prSet/>
      <dgm:spPr/>
      <dgm:t>
        <a:bodyPr/>
        <a:lstStyle/>
        <a:p>
          <a:endParaRPr lang="en-US"/>
        </a:p>
      </dgm:t>
    </dgm:pt>
    <dgm:pt modelId="{31875F0A-17B9-4B9B-A124-228BABADA745}" type="sibTrans" cxnId="{BC6015BA-1FE0-48FA-A081-6380079E5304}">
      <dgm:prSet/>
      <dgm:spPr/>
      <dgm:t>
        <a:bodyPr/>
        <a:lstStyle/>
        <a:p>
          <a:endParaRPr lang="en-US"/>
        </a:p>
      </dgm:t>
    </dgm:pt>
    <dgm:pt modelId="{872D5AAE-5563-4C6D-8DE9-193F78E49A40}">
      <dgm:prSet/>
      <dgm:spPr/>
      <dgm:t>
        <a:bodyPr/>
        <a:lstStyle/>
        <a:p>
          <a:r>
            <a:rPr lang="en-US"/>
            <a:t>How accurate and precise were the results of the various machine learning techniques on the dataset? </a:t>
          </a:r>
        </a:p>
      </dgm:t>
    </dgm:pt>
    <dgm:pt modelId="{F37EA8FD-0320-462B-8CFD-31516D6A6694}" type="parTrans" cxnId="{FEF37704-F0CF-4DC3-B642-6CF9E8E88C67}">
      <dgm:prSet/>
      <dgm:spPr/>
      <dgm:t>
        <a:bodyPr/>
        <a:lstStyle/>
        <a:p>
          <a:endParaRPr lang="en-US"/>
        </a:p>
      </dgm:t>
    </dgm:pt>
    <dgm:pt modelId="{2CB0D3FC-C742-469C-9E22-168C429C7C89}" type="sibTrans" cxnId="{FEF37704-F0CF-4DC3-B642-6CF9E8E88C67}">
      <dgm:prSet/>
      <dgm:spPr/>
      <dgm:t>
        <a:bodyPr/>
        <a:lstStyle/>
        <a:p>
          <a:endParaRPr lang="en-US"/>
        </a:p>
      </dgm:t>
    </dgm:pt>
    <dgm:pt modelId="{35EFFA74-A8A8-44DD-B0A7-53C372C25421}">
      <dgm:prSet/>
      <dgm:spPr/>
      <dgm:t>
        <a:bodyPr/>
        <a:lstStyle/>
        <a:p>
          <a:r>
            <a:rPr lang="en-US"/>
            <a:t>What conclusions can be drawn from the performance assessment of machine learning algorithms on the dataset, and how can this knowledge assist organisations in making decisions regarding hiring new employees, salary benchmarking, and negotiating support? </a:t>
          </a:r>
        </a:p>
      </dgm:t>
    </dgm:pt>
    <dgm:pt modelId="{25DD6028-E01D-405E-A072-39708BF7C344}" type="parTrans" cxnId="{B79E8015-66F2-4C3F-90E2-84E434BAEBBD}">
      <dgm:prSet/>
      <dgm:spPr/>
      <dgm:t>
        <a:bodyPr/>
        <a:lstStyle/>
        <a:p>
          <a:endParaRPr lang="en-US"/>
        </a:p>
      </dgm:t>
    </dgm:pt>
    <dgm:pt modelId="{19B3AC39-8E15-47F1-A59A-95F5901418F9}" type="sibTrans" cxnId="{B79E8015-66F2-4C3F-90E2-84E434BAEBBD}">
      <dgm:prSet/>
      <dgm:spPr/>
      <dgm:t>
        <a:bodyPr/>
        <a:lstStyle/>
        <a:p>
          <a:endParaRPr lang="en-US"/>
        </a:p>
      </dgm:t>
    </dgm:pt>
    <dgm:pt modelId="{0EC9A206-074F-46A0-9532-3FB0638C4BFB}" type="pres">
      <dgm:prSet presAssocID="{50134280-D2A4-49D4-BCB1-862326792BBF}" presName="outerComposite" presStyleCnt="0">
        <dgm:presLayoutVars>
          <dgm:chMax val="5"/>
          <dgm:dir/>
          <dgm:resizeHandles val="exact"/>
        </dgm:presLayoutVars>
      </dgm:prSet>
      <dgm:spPr/>
    </dgm:pt>
    <dgm:pt modelId="{972D23B8-93BF-4A43-A588-C8439DFB080A}" type="pres">
      <dgm:prSet presAssocID="{50134280-D2A4-49D4-BCB1-862326792BBF}" presName="dummyMaxCanvas" presStyleCnt="0">
        <dgm:presLayoutVars/>
      </dgm:prSet>
      <dgm:spPr/>
    </dgm:pt>
    <dgm:pt modelId="{B3C3F48E-8DE6-4DB7-A172-5E83F06EB60B}" type="pres">
      <dgm:prSet presAssocID="{50134280-D2A4-49D4-BCB1-862326792BBF}" presName="ThreeNodes_1" presStyleLbl="node1" presStyleIdx="0" presStyleCnt="3">
        <dgm:presLayoutVars>
          <dgm:bulletEnabled val="1"/>
        </dgm:presLayoutVars>
      </dgm:prSet>
      <dgm:spPr/>
    </dgm:pt>
    <dgm:pt modelId="{22C5F8CD-8E48-4AA3-9D09-F98A2F7A1B34}" type="pres">
      <dgm:prSet presAssocID="{50134280-D2A4-49D4-BCB1-862326792BBF}" presName="ThreeNodes_2" presStyleLbl="node1" presStyleIdx="1" presStyleCnt="3">
        <dgm:presLayoutVars>
          <dgm:bulletEnabled val="1"/>
        </dgm:presLayoutVars>
      </dgm:prSet>
      <dgm:spPr/>
    </dgm:pt>
    <dgm:pt modelId="{D2975482-2B67-4DD7-B514-B5D95AAD13E0}" type="pres">
      <dgm:prSet presAssocID="{50134280-D2A4-49D4-BCB1-862326792BBF}" presName="ThreeNodes_3" presStyleLbl="node1" presStyleIdx="2" presStyleCnt="3">
        <dgm:presLayoutVars>
          <dgm:bulletEnabled val="1"/>
        </dgm:presLayoutVars>
      </dgm:prSet>
      <dgm:spPr/>
    </dgm:pt>
    <dgm:pt modelId="{19989338-571B-4BD7-84A2-E6E10A0C366F}" type="pres">
      <dgm:prSet presAssocID="{50134280-D2A4-49D4-BCB1-862326792BBF}" presName="ThreeConn_1-2" presStyleLbl="fgAccFollowNode1" presStyleIdx="0" presStyleCnt="2">
        <dgm:presLayoutVars>
          <dgm:bulletEnabled val="1"/>
        </dgm:presLayoutVars>
      </dgm:prSet>
      <dgm:spPr/>
    </dgm:pt>
    <dgm:pt modelId="{299DD70D-702A-45C8-A22C-BF928FEB9902}" type="pres">
      <dgm:prSet presAssocID="{50134280-D2A4-49D4-BCB1-862326792BBF}" presName="ThreeConn_2-3" presStyleLbl="fgAccFollowNode1" presStyleIdx="1" presStyleCnt="2">
        <dgm:presLayoutVars>
          <dgm:bulletEnabled val="1"/>
        </dgm:presLayoutVars>
      </dgm:prSet>
      <dgm:spPr/>
    </dgm:pt>
    <dgm:pt modelId="{35C4A670-8C7D-4ACF-A910-7B97290AEEA4}" type="pres">
      <dgm:prSet presAssocID="{50134280-D2A4-49D4-BCB1-862326792BBF}" presName="ThreeNodes_1_text" presStyleLbl="node1" presStyleIdx="2" presStyleCnt="3">
        <dgm:presLayoutVars>
          <dgm:bulletEnabled val="1"/>
        </dgm:presLayoutVars>
      </dgm:prSet>
      <dgm:spPr/>
    </dgm:pt>
    <dgm:pt modelId="{8F871776-FBB7-47D5-83D2-161ACBEC6528}" type="pres">
      <dgm:prSet presAssocID="{50134280-D2A4-49D4-BCB1-862326792BBF}" presName="ThreeNodes_2_text" presStyleLbl="node1" presStyleIdx="2" presStyleCnt="3">
        <dgm:presLayoutVars>
          <dgm:bulletEnabled val="1"/>
        </dgm:presLayoutVars>
      </dgm:prSet>
      <dgm:spPr/>
    </dgm:pt>
    <dgm:pt modelId="{17A1687A-D297-4D6A-94F4-96396254A86E}" type="pres">
      <dgm:prSet presAssocID="{50134280-D2A4-49D4-BCB1-862326792BBF}" presName="ThreeNodes_3_text" presStyleLbl="node1" presStyleIdx="2" presStyleCnt="3">
        <dgm:presLayoutVars>
          <dgm:bulletEnabled val="1"/>
        </dgm:presLayoutVars>
      </dgm:prSet>
      <dgm:spPr/>
    </dgm:pt>
  </dgm:ptLst>
  <dgm:cxnLst>
    <dgm:cxn modelId="{FEF37704-F0CF-4DC3-B642-6CF9E8E88C67}" srcId="{50134280-D2A4-49D4-BCB1-862326792BBF}" destId="{872D5AAE-5563-4C6D-8DE9-193F78E49A40}" srcOrd="1" destOrd="0" parTransId="{F37EA8FD-0320-462B-8CFD-31516D6A6694}" sibTransId="{2CB0D3FC-C742-469C-9E22-168C429C7C89}"/>
    <dgm:cxn modelId="{7EC0A80F-3005-4BF4-A340-A2C523FA096E}" type="presOf" srcId="{872D5AAE-5563-4C6D-8DE9-193F78E49A40}" destId="{8F871776-FBB7-47D5-83D2-161ACBEC6528}" srcOrd="1" destOrd="0" presId="urn:microsoft.com/office/officeart/2005/8/layout/vProcess5"/>
    <dgm:cxn modelId="{D2EBA210-461B-4E70-BA93-40099EB15AF9}" type="presOf" srcId="{F362942E-C2C8-4E7D-AF0D-0BD23FA88F98}" destId="{35C4A670-8C7D-4ACF-A910-7B97290AEEA4}" srcOrd="1" destOrd="0" presId="urn:microsoft.com/office/officeart/2005/8/layout/vProcess5"/>
    <dgm:cxn modelId="{B79E8015-66F2-4C3F-90E2-84E434BAEBBD}" srcId="{50134280-D2A4-49D4-BCB1-862326792BBF}" destId="{35EFFA74-A8A8-44DD-B0A7-53C372C25421}" srcOrd="2" destOrd="0" parTransId="{25DD6028-E01D-405E-A072-39708BF7C344}" sibTransId="{19B3AC39-8E15-47F1-A59A-95F5901418F9}"/>
    <dgm:cxn modelId="{1436D15B-CF27-4764-BCEA-3C6A2CD727CA}" type="presOf" srcId="{872D5AAE-5563-4C6D-8DE9-193F78E49A40}" destId="{22C5F8CD-8E48-4AA3-9D09-F98A2F7A1B34}" srcOrd="0" destOrd="0" presId="urn:microsoft.com/office/officeart/2005/8/layout/vProcess5"/>
    <dgm:cxn modelId="{8DD68446-1B84-44C2-A9C1-5ACD3CFBB157}" type="presOf" srcId="{35EFFA74-A8A8-44DD-B0A7-53C372C25421}" destId="{D2975482-2B67-4DD7-B514-B5D95AAD13E0}" srcOrd="0" destOrd="0" presId="urn:microsoft.com/office/officeart/2005/8/layout/vProcess5"/>
    <dgm:cxn modelId="{61D21653-23E3-4A89-BFE0-D934388E582A}" type="presOf" srcId="{35EFFA74-A8A8-44DD-B0A7-53C372C25421}" destId="{17A1687A-D297-4D6A-94F4-96396254A86E}" srcOrd="1" destOrd="0" presId="urn:microsoft.com/office/officeart/2005/8/layout/vProcess5"/>
    <dgm:cxn modelId="{306A4687-D756-4C10-B8ED-3FA51562961A}" type="presOf" srcId="{2CB0D3FC-C742-469C-9E22-168C429C7C89}" destId="{299DD70D-702A-45C8-A22C-BF928FEB9902}" srcOrd="0" destOrd="0" presId="urn:microsoft.com/office/officeart/2005/8/layout/vProcess5"/>
    <dgm:cxn modelId="{BC6015BA-1FE0-48FA-A081-6380079E5304}" srcId="{50134280-D2A4-49D4-BCB1-862326792BBF}" destId="{F362942E-C2C8-4E7D-AF0D-0BD23FA88F98}" srcOrd="0" destOrd="0" parTransId="{9BA63C47-4D4D-48A5-A431-9F9F1E8A97A3}" sibTransId="{31875F0A-17B9-4B9B-A124-228BABADA745}"/>
    <dgm:cxn modelId="{3F55F8CB-5B21-448E-A27D-A941784BC585}" type="presOf" srcId="{F362942E-C2C8-4E7D-AF0D-0BD23FA88F98}" destId="{B3C3F48E-8DE6-4DB7-A172-5E83F06EB60B}" srcOrd="0" destOrd="0" presId="urn:microsoft.com/office/officeart/2005/8/layout/vProcess5"/>
    <dgm:cxn modelId="{E82075D5-9BFD-4DBA-97B9-E10341896849}" type="presOf" srcId="{31875F0A-17B9-4B9B-A124-228BABADA745}" destId="{19989338-571B-4BD7-84A2-E6E10A0C366F}" srcOrd="0" destOrd="0" presId="urn:microsoft.com/office/officeart/2005/8/layout/vProcess5"/>
    <dgm:cxn modelId="{6B468AD8-D346-46FF-BB28-723946B70404}" type="presOf" srcId="{50134280-D2A4-49D4-BCB1-862326792BBF}" destId="{0EC9A206-074F-46A0-9532-3FB0638C4BFB}" srcOrd="0" destOrd="0" presId="urn:microsoft.com/office/officeart/2005/8/layout/vProcess5"/>
    <dgm:cxn modelId="{1F8F4B47-0CD5-43CA-A3D3-4754809D3F8E}" type="presParOf" srcId="{0EC9A206-074F-46A0-9532-3FB0638C4BFB}" destId="{972D23B8-93BF-4A43-A588-C8439DFB080A}" srcOrd="0" destOrd="0" presId="urn:microsoft.com/office/officeart/2005/8/layout/vProcess5"/>
    <dgm:cxn modelId="{85DAD6BE-4084-4752-BF72-6CCA6D63178F}" type="presParOf" srcId="{0EC9A206-074F-46A0-9532-3FB0638C4BFB}" destId="{B3C3F48E-8DE6-4DB7-A172-5E83F06EB60B}" srcOrd="1" destOrd="0" presId="urn:microsoft.com/office/officeart/2005/8/layout/vProcess5"/>
    <dgm:cxn modelId="{F53A5B43-7B84-4555-9FC5-B517EC592874}" type="presParOf" srcId="{0EC9A206-074F-46A0-9532-3FB0638C4BFB}" destId="{22C5F8CD-8E48-4AA3-9D09-F98A2F7A1B34}" srcOrd="2" destOrd="0" presId="urn:microsoft.com/office/officeart/2005/8/layout/vProcess5"/>
    <dgm:cxn modelId="{B372EC1A-0B69-4707-8FD0-D798692B4EA3}" type="presParOf" srcId="{0EC9A206-074F-46A0-9532-3FB0638C4BFB}" destId="{D2975482-2B67-4DD7-B514-B5D95AAD13E0}" srcOrd="3" destOrd="0" presId="urn:microsoft.com/office/officeart/2005/8/layout/vProcess5"/>
    <dgm:cxn modelId="{0A863578-14A6-4D29-9DFB-C74930B59040}" type="presParOf" srcId="{0EC9A206-074F-46A0-9532-3FB0638C4BFB}" destId="{19989338-571B-4BD7-84A2-E6E10A0C366F}" srcOrd="4" destOrd="0" presId="urn:microsoft.com/office/officeart/2005/8/layout/vProcess5"/>
    <dgm:cxn modelId="{B47720E1-57F8-4A9D-A463-A4D7B543DF2F}" type="presParOf" srcId="{0EC9A206-074F-46A0-9532-3FB0638C4BFB}" destId="{299DD70D-702A-45C8-A22C-BF928FEB9902}" srcOrd="5" destOrd="0" presId="urn:microsoft.com/office/officeart/2005/8/layout/vProcess5"/>
    <dgm:cxn modelId="{71A3B8A4-8B59-45CE-8C34-EB6D062224F6}" type="presParOf" srcId="{0EC9A206-074F-46A0-9532-3FB0638C4BFB}" destId="{35C4A670-8C7D-4ACF-A910-7B97290AEEA4}" srcOrd="6" destOrd="0" presId="urn:microsoft.com/office/officeart/2005/8/layout/vProcess5"/>
    <dgm:cxn modelId="{0FF4FE0A-29D5-4947-8214-7936040AB5D2}" type="presParOf" srcId="{0EC9A206-074F-46A0-9532-3FB0638C4BFB}" destId="{8F871776-FBB7-47D5-83D2-161ACBEC6528}" srcOrd="7" destOrd="0" presId="urn:microsoft.com/office/officeart/2005/8/layout/vProcess5"/>
    <dgm:cxn modelId="{F3CD3878-0277-485B-82FF-75AFE3945C9C}" type="presParOf" srcId="{0EC9A206-074F-46A0-9532-3FB0638C4BFB}" destId="{17A1687A-D297-4D6A-94F4-96396254A86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C3F48E-8DE6-4DB7-A172-5E83F06EB60B}">
      <dsp:nvSpPr>
        <dsp:cNvPr id="0" name=""/>
        <dsp:cNvSpPr/>
      </dsp:nvSpPr>
      <dsp:spPr>
        <a:xfrm>
          <a:off x="0" y="0"/>
          <a:ext cx="8163718" cy="1108662"/>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How precise are the salary projections made using machine learning algorithms and the dataset? </a:t>
          </a:r>
        </a:p>
      </dsp:txBody>
      <dsp:txXfrm>
        <a:off x="32472" y="32472"/>
        <a:ext cx="6967385" cy="1043718"/>
      </dsp:txXfrm>
    </dsp:sp>
    <dsp:sp modelId="{22C5F8CD-8E48-4AA3-9D09-F98A2F7A1B34}">
      <dsp:nvSpPr>
        <dsp:cNvPr id="0" name=""/>
        <dsp:cNvSpPr/>
      </dsp:nvSpPr>
      <dsp:spPr>
        <a:xfrm>
          <a:off x="720328" y="1293438"/>
          <a:ext cx="8163718" cy="1108662"/>
        </a:xfrm>
        <a:prstGeom prst="roundRect">
          <a:avLst>
            <a:gd name="adj" fmla="val 10000"/>
          </a:avLst>
        </a:prstGeom>
        <a:solidFill>
          <a:schemeClr val="accent2">
            <a:hueOff val="-542947"/>
            <a:satOff val="20594"/>
            <a:lumOff val="-1127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How accurate and precise were the results of the various machine learning techniques on the dataset? </a:t>
          </a:r>
        </a:p>
      </dsp:txBody>
      <dsp:txXfrm>
        <a:off x="752800" y="1325910"/>
        <a:ext cx="6657816" cy="1043718"/>
      </dsp:txXfrm>
    </dsp:sp>
    <dsp:sp modelId="{D2975482-2B67-4DD7-B514-B5D95AAD13E0}">
      <dsp:nvSpPr>
        <dsp:cNvPr id="0" name=""/>
        <dsp:cNvSpPr/>
      </dsp:nvSpPr>
      <dsp:spPr>
        <a:xfrm>
          <a:off x="1440656" y="2586877"/>
          <a:ext cx="8163718" cy="1108662"/>
        </a:xfrm>
        <a:prstGeom prst="roundRect">
          <a:avLst>
            <a:gd name="adj" fmla="val 10000"/>
          </a:avLst>
        </a:prstGeom>
        <a:solidFill>
          <a:schemeClr val="accent2">
            <a:hueOff val="-1085893"/>
            <a:satOff val="41188"/>
            <a:lumOff val="-225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What conclusions can be drawn from the performance assessment of machine learning algorithms on the dataset, and how can this knowledge assist organisations in making decisions regarding hiring new employees, salary benchmarking, and negotiating support? </a:t>
          </a:r>
        </a:p>
      </dsp:txBody>
      <dsp:txXfrm>
        <a:off x="1473128" y="2619349"/>
        <a:ext cx="6657816" cy="1043718"/>
      </dsp:txXfrm>
    </dsp:sp>
    <dsp:sp modelId="{19989338-571B-4BD7-84A2-E6E10A0C366F}">
      <dsp:nvSpPr>
        <dsp:cNvPr id="0" name=""/>
        <dsp:cNvSpPr/>
      </dsp:nvSpPr>
      <dsp:spPr>
        <a:xfrm>
          <a:off x="7443088" y="840735"/>
          <a:ext cx="720630" cy="720630"/>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7605230" y="840735"/>
        <a:ext cx="396346" cy="542274"/>
      </dsp:txXfrm>
    </dsp:sp>
    <dsp:sp modelId="{299DD70D-702A-45C8-A22C-BF928FEB9902}">
      <dsp:nvSpPr>
        <dsp:cNvPr id="0" name=""/>
        <dsp:cNvSpPr/>
      </dsp:nvSpPr>
      <dsp:spPr>
        <a:xfrm>
          <a:off x="8163416" y="2126783"/>
          <a:ext cx="720630" cy="720630"/>
        </a:xfrm>
        <a:prstGeom prst="downArrow">
          <a:avLst>
            <a:gd name="adj1" fmla="val 55000"/>
            <a:gd name="adj2" fmla="val 45000"/>
          </a:avLst>
        </a:prstGeom>
        <a:solidFill>
          <a:schemeClr val="accent2">
            <a:tint val="40000"/>
            <a:alpha val="90000"/>
            <a:hueOff val="-1495971"/>
            <a:satOff val="-17912"/>
            <a:lumOff val="-3377"/>
            <a:alphaOff val="0"/>
          </a:schemeClr>
        </a:solidFill>
        <a:ln w="15875" cap="flat" cmpd="sng" algn="ctr">
          <a:solidFill>
            <a:schemeClr val="accent2">
              <a:tint val="40000"/>
              <a:alpha val="90000"/>
              <a:hueOff val="-1495971"/>
              <a:satOff val="-17912"/>
              <a:lumOff val="-33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8325558" y="2126783"/>
        <a:ext cx="396346" cy="54227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C5D671-173B-49C2-AB02-2013BF49863D}" type="datetimeFigureOut">
              <a:rPr lang="en-IN" smtClean="0"/>
              <a:t>09-08-2023</a:t>
            </a:fld>
            <a:endParaRPr lang="en-IN"/>
          </a:p>
        </p:txBody>
      </p:sp>
      <p:sp>
        <p:nvSpPr>
          <p:cNvPr id="5" name="Footer Placeholder 4"/>
          <p:cNvSpPr>
            <a:spLocks noGrp="1"/>
          </p:cNvSpPr>
          <p:nvPr>
            <p:ph type="ftr" sz="quarter" idx="11"/>
          </p:nvPr>
        </p:nvSpPr>
        <p:spPr>
          <a:xfrm>
            <a:off x="1127124" y="329307"/>
            <a:ext cx="5943668" cy="309201"/>
          </a:xfrm>
        </p:spPr>
        <p:txBody>
          <a:bodyPr/>
          <a:lstStyle/>
          <a:p>
            <a:endParaRPr lang="en-IN"/>
          </a:p>
        </p:txBody>
      </p:sp>
      <p:sp>
        <p:nvSpPr>
          <p:cNvPr id="6" name="Slide Number Placeholder 5"/>
          <p:cNvSpPr>
            <a:spLocks noGrp="1"/>
          </p:cNvSpPr>
          <p:nvPr>
            <p:ph type="sldNum" sz="quarter" idx="12"/>
          </p:nvPr>
        </p:nvSpPr>
        <p:spPr>
          <a:xfrm>
            <a:off x="9924392" y="134930"/>
            <a:ext cx="811019" cy="503578"/>
          </a:xfrm>
        </p:spPr>
        <p:txBody>
          <a:bodyPr/>
          <a:lstStyle/>
          <a:p>
            <a:fld id="{613C12CF-14C2-4905-96BA-836E27859C61}"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88824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48C5D671-173B-49C2-AB02-2013BF49863D}" type="datetimeFigureOut">
              <a:rPr lang="en-IN" smtClean="0"/>
              <a:t>09-08-2023</a:t>
            </a:fld>
            <a:endParaRPr lang="en-IN"/>
          </a:p>
        </p:txBody>
      </p:sp>
      <p:sp>
        <p:nvSpPr>
          <p:cNvPr id="5" name="Footer Placeholder 4"/>
          <p:cNvSpPr>
            <a:spLocks noGrp="1"/>
          </p:cNvSpPr>
          <p:nvPr>
            <p:ph type="ftr" sz="quarter" idx="11"/>
          </p:nvPr>
        </p:nvSpPr>
        <p:spPr/>
        <p:txBody>
          <a:bodyPr/>
          <a:lstStyle>
            <a:lvl1pPr>
              <a:defRPr sz="1200"/>
            </a:lvl1pPr>
          </a:lstStyle>
          <a:p>
            <a:endParaRPr lang="en-IN"/>
          </a:p>
        </p:txBody>
      </p:sp>
      <p:sp>
        <p:nvSpPr>
          <p:cNvPr id="6" name="Slide Number Placeholder 5"/>
          <p:cNvSpPr>
            <a:spLocks noGrp="1"/>
          </p:cNvSpPr>
          <p:nvPr>
            <p:ph type="sldNum" sz="quarter" idx="12"/>
          </p:nvPr>
        </p:nvSpPr>
        <p:spPr/>
        <p:txBody>
          <a:bodyPr/>
          <a:lstStyle/>
          <a:p>
            <a:fld id="{613C12CF-14C2-4905-96BA-836E27859C61}" type="slidenum">
              <a:rPr lang="en-IN" smtClean="0"/>
              <a:t>‹#›</a:t>
            </a:fld>
            <a:endParaRPr lang="en-IN"/>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883690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C5D671-173B-49C2-AB02-2013BF49863D}" type="datetimeFigureOut">
              <a:rPr lang="en-IN" smtClean="0"/>
              <a:t>09-08-2023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3C12CF-14C2-4905-96BA-836E27859C61}"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50207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C5D671-173B-49C2-AB02-2013BF49863D}" type="datetimeFigureOut">
              <a:rPr lang="en-IN" smtClean="0"/>
              <a:t>09-08-2023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3C12CF-14C2-4905-96BA-836E27859C61}"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568441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C5D671-173B-49C2-AB02-2013BF49863D}" type="datetimeFigureOut">
              <a:rPr lang="en-IN" smtClean="0"/>
              <a:t>09-08-2023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3C12CF-14C2-4905-96BA-836E27859C61}" type="slidenum">
              <a:rPr lang="en-IN" smtClean="0"/>
              <a:t>‹#›</a:t>
            </a:fld>
            <a:endParaRPr lang="en-IN"/>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50577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C5D671-173B-49C2-AB02-2013BF49863D}" type="datetimeFigureOut">
              <a:rPr lang="en-IN" smtClean="0"/>
              <a:t>09-08-2023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3C12CF-14C2-4905-96BA-836E27859C61}" type="slidenum">
              <a:rPr lang="en-IN" smtClean="0"/>
              <a:t>‹#›</a:t>
            </a:fld>
            <a:endParaRPr lang="en-IN"/>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833894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C5D671-173B-49C2-AB02-2013BF49863D}" type="datetimeFigureOut">
              <a:rPr lang="en-IN" smtClean="0"/>
              <a:t>09-08-2023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3C12CF-14C2-4905-96BA-836E27859C61}" type="slidenum">
              <a:rPr lang="en-IN" smtClean="0"/>
              <a:t>‹#›</a:t>
            </a:fld>
            <a:endParaRPr lang="en-IN"/>
          </a:p>
        </p:txBody>
      </p:sp>
    </p:spTree>
    <p:extLst>
      <p:ext uri="{BB962C8B-B14F-4D97-AF65-F5344CB8AC3E}">
        <p14:creationId xmlns:p14="http://schemas.microsoft.com/office/powerpoint/2010/main" val="3286711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C5D671-173B-49C2-AB02-2013BF49863D}" type="datetimeFigureOut">
              <a:rPr lang="en-IN" smtClean="0"/>
              <a:t>09-08-2023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3C12CF-14C2-4905-96BA-836E27859C61}" type="slidenum">
              <a:rPr lang="en-IN" smtClean="0"/>
              <a:t>‹#›</a:t>
            </a:fld>
            <a:endParaRPr lang="en-I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6779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48C5D671-173B-49C2-AB02-2013BF49863D}" type="datetimeFigureOut">
              <a:rPr lang="en-IN" smtClean="0"/>
              <a:t>09-08-2023</a:t>
            </a:fld>
            <a:endParaRPr lang="en-IN"/>
          </a:p>
        </p:txBody>
      </p:sp>
      <p:sp>
        <p:nvSpPr>
          <p:cNvPr id="6" name="Footer Placeholder 5"/>
          <p:cNvSpPr>
            <a:spLocks noGrp="1"/>
          </p:cNvSpPr>
          <p:nvPr>
            <p:ph type="ftr" sz="quarter" idx="11"/>
          </p:nvPr>
        </p:nvSpPr>
        <p:spPr>
          <a:xfrm>
            <a:off x="1125300" y="318640"/>
            <a:ext cx="4877818" cy="320931"/>
          </a:xfrm>
        </p:spPr>
        <p:txBody>
          <a:bodyPr/>
          <a:lstStyle/>
          <a:p>
            <a:endParaRPr lang="en-IN"/>
          </a:p>
        </p:txBody>
      </p:sp>
      <p:sp>
        <p:nvSpPr>
          <p:cNvPr id="7" name="Slide Number Placeholder 6"/>
          <p:cNvSpPr>
            <a:spLocks noGrp="1"/>
          </p:cNvSpPr>
          <p:nvPr>
            <p:ph type="sldNum" sz="quarter" idx="12"/>
          </p:nvPr>
        </p:nvSpPr>
        <p:spPr>
          <a:xfrm>
            <a:off x="6176794" y="137408"/>
            <a:ext cx="811019" cy="503578"/>
          </a:xfrm>
        </p:spPr>
        <p:txBody>
          <a:bodyPr/>
          <a:lstStyle/>
          <a:p>
            <a:fld id="{613C12CF-14C2-4905-96BA-836E27859C61}" type="slidenum">
              <a:rPr lang="en-IN" smtClean="0"/>
              <a:t>‹#›</a:t>
            </a:fld>
            <a:endParaRPr lang="en-IN"/>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3775660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C5D671-173B-49C2-AB02-2013BF49863D}" type="datetimeFigureOut">
              <a:rPr lang="en-IN" smtClean="0"/>
              <a:t>09-08-2023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3C12CF-14C2-4905-96BA-836E27859C61}" type="slidenum">
              <a:rPr lang="en-IN" smtClean="0"/>
              <a:t>‹#›</a:t>
            </a:fld>
            <a:endParaRPr lang="en-IN"/>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47083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C5D671-173B-49C2-AB02-2013BF49863D}" type="datetimeFigureOut">
              <a:rPr lang="en-IN" smtClean="0"/>
              <a:t>09-08-2023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3C12CF-14C2-4905-96BA-836E27859C61}" type="slidenum">
              <a:rPr lang="en-IN" smtClean="0"/>
              <a:t>‹#›</a:t>
            </a:fld>
            <a:endParaRPr lang="en-IN"/>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4133914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C5D671-173B-49C2-AB02-2013BF49863D}" type="datetimeFigureOut">
              <a:rPr lang="en-IN" smtClean="0"/>
              <a:t>09-08-2023</a:t>
            </a:fld>
            <a:endParaRPr lang="en-IN"/>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613C12CF-14C2-4905-96BA-836E27859C61}" type="slidenum">
              <a:rPr lang="en-IN" smtClean="0"/>
              <a:t>‹#›</a:t>
            </a:fld>
            <a:endParaRPr lang="en-IN"/>
          </a:p>
        </p:txBody>
      </p:sp>
    </p:spTree>
    <p:extLst>
      <p:ext uri="{BB962C8B-B14F-4D97-AF65-F5344CB8AC3E}">
        <p14:creationId xmlns:p14="http://schemas.microsoft.com/office/powerpoint/2010/main" val="33853796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A6824-D6AE-BA0E-8A69-79417167741F}"/>
              </a:ext>
            </a:extLst>
          </p:cNvPr>
          <p:cNvSpPr>
            <a:spLocks noGrp="1"/>
          </p:cNvSpPr>
          <p:nvPr>
            <p:ph type="ctrTitle"/>
          </p:nvPr>
        </p:nvSpPr>
        <p:spPr>
          <a:xfrm>
            <a:off x="1452616" y="962902"/>
            <a:ext cx="4176384" cy="2380828"/>
          </a:xfrm>
        </p:spPr>
        <p:txBody>
          <a:bodyPr vert="horz" lIns="91440" tIns="45720" rIns="91440" bIns="45720" rtlCol="0">
            <a:normAutofit/>
          </a:bodyPr>
          <a:lstStyle/>
          <a:p>
            <a:r>
              <a:rPr lang="en-US" sz="3000" kern="1200">
                <a:latin typeface="+mj-lt"/>
                <a:ea typeface="+mj-ea"/>
                <a:cs typeface="+mj-cs"/>
              </a:rPr>
              <a:t>Domain Application and Predictive Analysis for Data Science Salaries</a:t>
            </a:r>
            <a:br>
              <a:rPr lang="en-US" sz="3000" kern="1200">
                <a:latin typeface="+mj-lt"/>
                <a:ea typeface="+mj-ea"/>
                <a:cs typeface="+mj-cs"/>
              </a:rPr>
            </a:br>
            <a:r>
              <a:rPr lang="en-US" sz="3000" kern="1200">
                <a:latin typeface="+mj-lt"/>
                <a:ea typeface="+mj-ea"/>
                <a:cs typeface="+mj-cs"/>
              </a:rPr>
              <a:t>    Group A </a:t>
            </a:r>
          </a:p>
        </p:txBody>
      </p:sp>
      <p:sp>
        <p:nvSpPr>
          <p:cNvPr id="3" name="Subtitle 2">
            <a:extLst>
              <a:ext uri="{FF2B5EF4-FFF2-40B4-BE49-F238E27FC236}">
                <a16:creationId xmlns:a16="http://schemas.microsoft.com/office/drawing/2014/main" id="{512ECFB2-06CC-9F61-D63B-0D4E65C88119}"/>
              </a:ext>
            </a:extLst>
          </p:cNvPr>
          <p:cNvSpPr>
            <a:spLocks noGrp="1"/>
          </p:cNvSpPr>
          <p:nvPr>
            <p:ph type="subTitle" idx="1"/>
          </p:nvPr>
        </p:nvSpPr>
        <p:spPr>
          <a:xfrm>
            <a:off x="1452617" y="3531204"/>
            <a:ext cx="4171479" cy="1610643"/>
          </a:xfrm>
        </p:spPr>
        <p:txBody>
          <a:bodyPr vert="horz" lIns="91440" tIns="45720" rIns="91440" bIns="45720" rtlCol="0">
            <a:normAutofit/>
          </a:bodyPr>
          <a:lstStyle/>
          <a:p>
            <a:pPr indent="-228600">
              <a:lnSpc>
                <a:spcPct val="110000"/>
              </a:lnSpc>
              <a:buFont typeface="Arial" panose="020B0604020202020204" pitchFamily="34" charset="0"/>
              <a:buChar char="•"/>
            </a:pPr>
            <a:r>
              <a:rPr lang="en-US" sz="1600"/>
              <a:t>Team Members:-</a:t>
            </a:r>
          </a:p>
          <a:p>
            <a:pPr indent="-228600">
              <a:lnSpc>
                <a:spcPct val="110000"/>
              </a:lnSpc>
              <a:buFont typeface="Arial" panose="020B0604020202020204" pitchFamily="34" charset="0"/>
              <a:buChar char="•"/>
            </a:pPr>
            <a:r>
              <a:rPr lang="en-US" sz="1600"/>
              <a:t>Mohammad Saad Shaikh-2</a:t>
            </a:r>
            <a:r>
              <a:rPr lang="en-IN" sz="1600"/>
              <a:t>2163573</a:t>
            </a:r>
            <a:r>
              <a:rPr lang="en-US" sz="1600"/>
              <a:t>  </a:t>
            </a:r>
          </a:p>
          <a:p>
            <a:pPr indent="-228600">
              <a:lnSpc>
                <a:spcPct val="110000"/>
              </a:lnSpc>
              <a:buFont typeface="Arial" panose="020B0604020202020204" pitchFamily="34" charset="0"/>
              <a:buChar char="•"/>
            </a:pPr>
            <a:r>
              <a:rPr lang="en-US" sz="1600"/>
              <a:t>Harshal Agashe-</a:t>
            </a:r>
            <a:r>
              <a:rPr lang="en-IN" sz="1600"/>
              <a:t>22157051</a:t>
            </a:r>
            <a:endParaRPr lang="en-US" sz="1600"/>
          </a:p>
          <a:p>
            <a:pPr indent="-228600">
              <a:lnSpc>
                <a:spcPct val="110000"/>
              </a:lnSpc>
              <a:buFont typeface="Arial" panose="020B0604020202020204" pitchFamily="34" charset="0"/>
              <a:buChar char="•"/>
            </a:pPr>
            <a:r>
              <a:rPr lang="en-US" sz="1600"/>
              <a:t>Ananya Kachawa- </a:t>
            </a:r>
            <a:r>
              <a:rPr lang="en-IN" sz="1600"/>
              <a:t>21136751 </a:t>
            </a:r>
            <a:endParaRPr lang="en-US" sz="1600"/>
          </a:p>
        </p:txBody>
      </p:sp>
      <p:pic>
        <p:nvPicPr>
          <p:cNvPr id="7" name="Graphic 6" descr="Head with Gears">
            <a:extLst>
              <a:ext uri="{FF2B5EF4-FFF2-40B4-BE49-F238E27FC236}">
                <a16:creationId xmlns:a16="http://schemas.microsoft.com/office/drawing/2014/main" id="{A0DA18D6-2D43-E9ED-1186-B0EED77AC1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4251" y="805583"/>
            <a:ext cx="4660762" cy="4660762"/>
          </a:xfrm>
          <a:prstGeom prst="rect">
            <a:avLst/>
          </a:prstGeom>
        </p:spPr>
      </p:pic>
    </p:spTree>
    <p:extLst>
      <p:ext uri="{BB962C8B-B14F-4D97-AF65-F5344CB8AC3E}">
        <p14:creationId xmlns:p14="http://schemas.microsoft.com/office/powerpoint/2010/main" val="1132114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6FE7134-47B1-4BFF-93CB-669E11257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8"/>
            <a:ext cx="12192000" cy="6389231"/>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869490-E118-AA52-77E8-0D8514C0A482}"/>
              </a:ext>
            </a:extLst>
          </p:cNvPr>
          <p:cNvSpPr>
            <a:spLocks noGrp="1"/>
          </p:cNvSpPr>
          <p:nvPr>
            <p:ph type="title"/>
          </p:nvPr>
        </p:nvSpPr>
        <p:spPr>
          <a:xfrm>
            <a:off x="849683" y="1240076"/>
            <a:ext cx="2777397" cy="4584527"/>
          </a:xfrm>
        </p:spPr>
        <p:txBody>
          <a:bodyPr>
            <a:normAutofit/>
          </a:bodyPr>
          <a:lstStyle/>
          <a:p>
            <a:r>
              <a:rPr lang="en-IN" sz="2700">
                <a:solidFill>
                  <a:srgbClr val="FFFFFF"/>
                </a:solidFill>
              </a:rPr>
              <a:t>INTRODUCTION &amp; MOTIVATION</a:t>
            </a:r>
          </a:p>
        </p:txBody>
      </p:sp>
      <p:sp>
        <p:nvSpPr>
          <p:cNvPr id="3" name="Content Placeholder 2">
            <a:extLst>
              <a:ext uri="{FF2B5EF4-FFF2-40B4-BE49-F238E27FC236}">
                <a16:creationId xmlns:a16="http://schemas.microsoft.com/office/drawing/2014/main" id="{6878BCBF-D23F-9F34-E203-21D55D8CE481}"/>
              </a:ext>
            </a:extLst>
          </p:cNvPr>
          <p:cNvSpPr>
            <a:spLocks noGrp="1"/>
          </p:cNvSpPr>
          <p:nvPr>
            <p:ph idx="1"/>
          </p:nvPr>
        </p:nvSpPr>
        <p:spPr>
          <a:xfrm>
            <a:off x="4705594" y="1240077"/>
            <a:ext cx="6034827" cy="4916465"/>
          </a:xfrm>
        </p:spPr>
        <p:txBody>
          <a:bodyPr anchor="t">
            <a:normAutofit/>
          </a:bodyPr>
          <a:lstStyle/>
          <a:p>
            <a:pPr>
              <a:lnSpc>
                <a:spcPct val="110000"/>
              </a:lnSpc>
            </a:pPr>
            <a:r>
              <a:rPr lang="en-US" sz="1400"/>
              <a:t>This study focusing on analyzing salary trends in the data science field. Employing machine learning techniques such as linear regression, random forest, and </a:t>
            </a:r>
            <a:r>
              <a:rPr lang="en-US" sz="1400" err="1"/>
              <a:t>XGBoost</a:t>
            </a:r>
            <a:r>
              <a:rPr lang="en-US" sz="1400"/>
              <a:t>, the study provides accurate salary predictions. The findings contribute valuable insights into factors influencing compensation, benefiting professionals, organizations, and policymakers. The transparent methodology ensures reliability and reproducibility for further exploration and strategic decision-making in talent acquisition and salary benchmarking</a:t>
            </a:r>
          </a:p>
          <a:p>
            <a:pPr>
              <a:lnSpc>
                <a:spcPct val="110000"/>
              </a:lnSpc>
            </a:pPr>
            <a:r>
              <a:rPr lang="en-US" sz="1400"/>
              <a:t>The utilization of the dataset is motivated by the recent strides made in the field of machine learning algorithms, which hold the potential to enhance decision-making and problem-solving across various industries. The efficacy of these algorithms relies heavily on the quality and characteristics of the employed data. Hence, comprehending the performance of these algorithms on diverse datasets is paramount.</a:t>
            </a:r>
          </a:p>
          <a:p>
            <a:pPr>
              <a:lnSpc>
                <a:spcPct val="110000"/>
              </a:lnSpc>
            </a:pPr>
            <a:endParaRPr lang="en-IN" sz="1400"/>
          </a:p>
        </p:txBody>
      </p:sp>
    </p:spTree>
    <p:extLst>
      <p:ext uri="{BB962C8B-B14F-4D97-AF65-F5344CB8AC3E}">
        <p14:creationId xmlns:p14="http://schemas.microsoft.com/office/powerpoint/2010/main" val="2246971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2B985F-E839-44D5-9DD8-BC9DEE34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D13D25-B406-A99D-C9E6-E0AC84D1691D}"/>
              </a:ext>
            </a:extLst>
          </p:cNvPr>
          <p:cNvSpPr>
            <a:spLocks noGrp="1"/>
          </p:cNvSpPr>
          <p:nvPr>
            <p:ph type="title"/>
          </p:nvPr>
        </p:nvSpPr>
        <p:spPr>
          <a:xfrm>
            <a:off x="1130270" y="953324"/>
            <a:ext cx="9603275" cy="1049235"/>
          </a:xfrm>
        </p:spPr>
        <p:txBody>
          <a:bodyPr>
            <a:normAutofit/>
          </a:bodyPr>
          <a:lstStyle/>
          <a:p>
            <a:r>
              <a:rPr lang="en-IN" dirty="0"/>
              <a:t>RESEARCH QUESTIONS </a:t>
            </a:r>
          </a:p>
        </p:txBody>
      </p:sp>
      <p:cxnSp>
        <p:nvCxnSpPr>
          <p:cNvPr id="12" name="Straight Connector 11">
            <a:extLst>
              <a:ext uri="{FF2B5EF4-FFF2-40B4-BE49-F238E27FC236}">
                <a16:creationId xmlns:a16="http://schemas.microsoft.com/office/drawing/2014/main" id="{52D73AC3-7DF7-43FB-9D67-3CE387E94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30874" y="1996645"/>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B965CCFE-3123-4C5E-BA80-B081F41E6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0EA86022-3E71-C0CD-5A35-0245C21DAD31}"/>
              </a:ext>
            </a:extLst>
          </p:cNvPr>
          <p:cNvGraphicFramePr>
            <a:graphicFrameLocks noGrp="1"/>
          </p:cNvGraphicFramePr>
          <p:nvPr>
            <p:ph idx="1"/>
            <p:extLst>
              <p:ext uri="{D42A27DB-BD31-4B8C-83A1-F6EECF244321}">
                <p14:modId xmlns:p14="http://schemas.microsoft.com/office/powerpoint/2010/main" val="3063804660"/>
              </p:ext>
            </p:extLst>
          </p:nvPr>
        </p:nvGraphicFramePr>
        <p:xfrm>
          <a:off x="1130270" y="2502076"/>
          <a:ext cx="9604375" cy="3695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0678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07B27AF-AFED-4FF4-8065-09E2ECD431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2" name="Rectangle 11">
            <a:extLst>
              <a:ext uri="{FF2B5EF4-FFF2-40B4-BE49-F238E27FC236}">
                <a16:creationId xmlns:a16="http://schemas.microsoft.com/office/drawing/2014/main" id="{45B2D936-4E08-4928-90A3-EB1B6784A5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9E1CD25F-9744-41BE-A5C7-B2A5C98507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AFAFBB4-6847-45A2-97CE-8853D99697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p:nvSpPr>
          <p:cNvPr id="2" name="Title 1">
            <a:extLst>
              <a:ext uri="{FF2B5EF4-FFF2-40B4-BE49-F238E27FC236}">
                <a16:creationId xmlns:a16="http://schemas.microsoft.com/office/drawing/2014/main" id="{447B1818-6A87-9E78-7441-596AB6E04F13}"/>
              </a:ext>
            </a:extLst>
          </p:cNvPr>
          <p:cNvSpPr>
            <a:spLocks noGrp="1"/>
          </p:cNvSpPr>
          <p:nvPr>
            <p:ph type="title"/>
          </p:nvPr>
        </p:nvSpPr>
        <p:spPr>
          <a:xfrm>
            <a:off x="1130270" y="953324"/>
            <a:ext cx="9603275" cy="1049235"/>
          </a:xfrm>
        </p:spPr>
        <p:txBody>
          <a:bodyPr vert="horz" lIns="91440" tIns="45720" rIns="91440" bIns="45720" rtlCol="0" anchor="t">
            <a:normAutofit/>
          </a:bodyPr>
          <a:lstStyle/>
          <a:p>
            <a:r>
              <a:rPr lang="en-US"/>
              <a:t>METHODOLOGY </a:t>
            </a:r>
          </a:p>
        </p:txBody>
      </p:sp>
      <p:pic>
        <p:nvPicPr>
          <p:cNvPr id="5" name="Content Placeholder 4" descr="A diagram of a data set&#10;&#10;Description automatically generated">
            <a:extLst>
              <a:ext uri="{FF2B5EF4-FFF2-40B4-BE49-F238E27FC236}">
                <a16:creationId xmlns:a16="http://schemas.microsoft.com/office/drawing/2014/main" id="{D397B912-8C5A-EC53-E783-BDAE069F1CD6}"/>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30269" y="2171769"/>
            <a:ext cx="9966355" cy="3921648"/>
          </a:xfrm>
          <a:prstGeom prst="rect">
            <a:avLst/>
          </a:prstGeom>
        </p:spPr>
      </p:pic>
    </p:spTree>
    <p:extLst>
      <p:ext uri="{BB962C8B-B14F-4D97-AF65-F5344CB8AC3E}">
        <p14:creationId xmlns:p14="http://schemas.microsoft.com/office/powerpoint/2010/main" val="253790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E769-4AEE-8800-F679-CBDCD5BD823C}"/>
              </a:ext>
            </a:extLst>
          </p:cNvPr>
          <p:cNvSpPr>
            <a:spLocks noGrp="1"/>
          </p:cNvSpPr>
          <p:nvPr>
            <p:ph type="title"/>
          </p:nvPr>
        </p:nvSpPr>
        <p:spPr/>
        <p:txBody>
          <a:bodyPr>
            <a:normAutofit/>
          </a:bodyPr>
          <a:lstStyle/>
          <a:p>
            <a:r>
              <a:rPr lang="en-IN"/>
              <a:t>Model Selection &amp; Evaluation</a:t>
            </a:r>
          </a:p>
        </p:txBody>
      </p:sp>
      <p:sp>
        <p:nvSpPr>
          <p:cNvPr id="3" name="Content Placeholder 2">
            <a:extLst>
              <a:ext uri="{FF2B5EF4-FFF2-40B4-BE49-F238E27FC236}">
                <a16:creationId xmlns:a16="http://schemas.microsoft.com/office/drawing/2014/main" id="{2D67F84E-38AC-DD3A-F7A4-2C75E31B7374}"/>
              </a:ext>
            </a:extLst>
          </p:cNvPr>
          <p:cNvSpPr>
            <a:spLocks noGrp="1"/>
          </p:cNvSpPr>
          <p:nvPr>
            <p:ph idx="1"/>
          </p:nvPr>
        </p:nvSpPr>
        <p:spPr>
          <a:xfrm>
            <a:off x="1451579" y="2015734"/>
            <a:ext cx="4162555" cy="3450613"/>
          </a:xfrm>
        </p:spPr>
        <p:txBody>
          <a:bodyPr>
            <a:normAutofit lnSpcReduction="10000"/>
          </a:bodyPr>
          <a:lstStyle/>
          <a:p>
            <a:pPr>
              <a:lnSpc>
                <a:spcPct val="110000"/>
              </a:lnSpc>
            </a:pPr>
            <a:r>
              <a:rPr lang="en-US" sz="1300"/>
              <a:t>For linear regression, a simple linear model with appropriate feature encoding and regularization techniques have been used. Random forest and </a:t>
            </a:r>
            <a:r>
              <a:rPr lang="en-US" sz="1300" err="1"/>
              <a:t>XGBoost</a:t>
            </a:r>
            <a:r>
              <a:rPr lang="en-US" sz="1300"/>
              <a:t> are ensemble methods that utilize decision trees. The architecture of these models includes multiple decision trees with techniques like bagging and boosting to enhance performance and reduce overfitting.</a:t>
            </a:r>
          </a:p>
          <a:p>
            <a:pPr>
              <a:lnSpc>
                <a:spcPct val="110000"/>
              </a:lnSpc>
            </a:pPr>
            <a:r>
              <a:rPr lang="en-US" sz="1300"/>
              <a:t>Mean squared error (MSE), root mean squared error (RMSE), and R-squared were used to measure the performance of the models in relation to regression tasks. The models' predictions were compared with the actual salary values to assess their accuracy and predictive power.</a:t>
            </a:r>
          </a:p>
          <a:p>
            <a:pPr marL="0" indent="0">
              <a:lnSpc>
                <a:spcPct val="110000"/>
              </a:lnSpc>
              <a:buNone/>
            </a:pPr>
            <a:endParaRPr lang="en-IN" sz="1300"/>
          </a:p>
          <a:p>
            <a:pPr>
              <a:lnSpc>
                <a:spcPct val="110000"/>
              </a:lnSpc>
            </a:pPr>
            <a:endParaRPr lang="en-IN" sz="1300"/>
          </a:p>
          <a:p>
            <a:pPr>
              <a:lnSpc>
                <a:spcPct val="110000"/>
              </a:lnSpc>
            </a:pPr>
            <a:endParaRPr lang="en-IN" sz="1300"/>
          </a:p>
          <a:p>
            <a:pPr>
              <a:lnSpc>
                <a:spcPct val="110000"/>
              </a:lnSpc>
            </a:pPr>
            <a:endParaRPr lang="en-IN" sz="1300"/>
          </a:p>
          <a:p>
            <a:pPr>
              <a:lnSpc>
                <a:spcPct val="110000"/>
              </a:lnSpc>
            </a:pPr>
            <a:endParaRPr lang="en-IN" sz="1300"/>
          </a:p>
          <a:p>
            <a:pPr>
              <a:lnSpc>
                <a:spcPct val="110000"/>
              </a:lnSpc>
            </a:pPr>
            <a:endParaRPr lang="en-IN" sz="1300"/>
          </a:p>
        </p:txBody>
      </p:sp>
      <p:pic>
        <p:nvPicPr>
          <p:cNvPr id="6" name="Picture 5" descr="A table with numbers and symbols">
            <a:extLst>
              <a:ext uri="{FF2B5EF4-FFF2-40B4-BE49-F238E27FC236}">
                <a16:creationId xmlns:a16="http://schemas.microsoft.com/office/drawing/2014/main" id="{CD140A42-0782-3D33-8A78-865B87B0B8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411" y="2755153"/>
            <a:ext cx="4960443" cy="1971775"/>
          </a:xfrm>
          <a:prstGeom prst="rect">
            <a:avLst/>
          </a:prstGeom>
        </p:spPr>
      </p:pic>
    </p:spTree>
    <p:extLst>
      <p:ext uri="{BB962C8B-B14F-4D97-AF65-F5344CB8AC3E}">
        <p14:creationId xmlns:p14="http://schemas.microsoft.com/office/powerpoint/2010/main" val="1183278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896B-0322-24D7-82C5-3EF6A9721D34}"/>
              </a:ext>
            </a:extLst>
          </p:cNvPr>
          <p:cNvSpPr>
            <a:spLocks noGrp="1"/>
          </p:cNvSpPr>
          <p:nvPr>
            <p:ph type="title"/>
          </p:nvPr>
        </p:nvSpPr>
        <p:spPr>
          <a:xfrm>
            <a:off x="1130270" y="953324"/>
            <a:ext cx="9603275" cy="1049235"/>
          </a:xfrm>
        </p:spPr>
        <p:txBody>
          <a:bodyPr>
            <a:normAutofit/>
          </a:bodyPr>
          <a:lstStyle/>
          <a:p>
            <a:r>
              <a:rPr lang="en-IN" dirty="0"/>
              <a:t>BUSINESS VALUE</a:t>
            </a:r>
          </a:p>
        </p:txBody>
      </p:sp>
      <p:sp>
        <p:nvSpPr>
          <p:cNvPr id="3" name="Content Placeholder 2">
            <a:extLst>
              <a:ext uri="{FF2B5EF4-FFF2-40B4-BE49-F238E27FC236}">
                <a16:creationId xmlns:a16="http://schemas.microsoft.com/office/drawing/2014/main" id="{2A38C793-2C02-472A-AB4B-6D7C2CFA2CD1}"/>
              </a:ext>
            </a:extLst>
          </p:cNvPr>
          <p:cNvSpPr>
            <a:spLocks noGrp="1"/>
          </p:cNvSpPr>
          <p:nvPr>
            <p:ph idx="1"/>
          </p:nvPr>
        </p:nvSpPr>
        <p:spPr>
          <a:xfrm>
            <a:off x="1130270" y="2158175"/>
            <a:ext cx="5622284" cy="3308172"/>
          </a:xfrm>
        </p:spPr>
        <p:txBody>
          <a:bodyPr>
            <a:normAutofit/>
          </a:bodyPr>
          <a:lstStyle/>
          <a:p>
            <a:pPr>
              <a:lnSpc>
                <a:spcPct val="110000"/>
              </a:lnSpc>
            </a:pPr>
            <a:r>
              <a:rPr lang="en-US" sz="1100"/>
              <a:t>Salary Benchmarking: Organisations can use our model to estimate salary during talent acquisition with respect to candidate’s experience, job type and other relevant factors. This can help the stay competitive and fair on salary offerings. This way they can attract and retain top talents. </a:t>
            </a:r>
          </a:p>
          <a:p>
            <a:pPr>
              <a:lnSpc>
                <a:spcPct val="110000"/>
              </a:lnSpc>
            </a:pPr>
            <a:r>
              <a:rPr lang="en-US" sz="1100"/>
              <a:t> Negotiation Support: Salary predictions can provide guidance to data science professionals during salary negotiations with organisations. Having insights into salary ranges based on factors such as skills, experience, and location helps in having informed discussions HR mangers. </a:t>
            </a:r>
          </a:p>
          <a:p>
            <a:pPr>
              <a:lnSpc>
                <a:spcPct val="110000"/>
              </a:lnSpc>
            </a:pPr>
            <a:r>
              <a:rPr lang="en-US" sz="1100"/>
              <a:t> Decision Making: With the insights gained from our model, executives can make better business decision in terms of workforce planning, budgeting, strategy and resource allocation.</a:t>
            </a:r>
            <a:endParaRPr lang="en-IN" sz="1100"/>
          </a:p>
        </p:txBody>
      </p:sp>
      <p:pic>
        <p:nvPicPr>
          <p:cNvPr id="5" name="Picture 4" descr="Hands-on top of each other">
            <a:extLst>
              <a:ext uri="{FF2B5EF4-FFF2-40B4-BE49-F238E27FC236}">
                <a16:creationId xmlns:a16="http://schemas.microsoft.com/office/drawing/2014/main" id="{521A3009-4F31-5F8B-D620-2A743B9D11AF}"/>
              </a:ext>
            </a:extLst>
          </p:cNvPr>
          <p:cNvPicPr>
            <a:picLocks noChangeAspect="1"/>
          </p:cNvPicPr>
          <p:nvPr/>
        </p:nvPicPr>
        <p:blipFill rotWithShape="1">
          <a:blip r:embed="rId2"/>
          <a:srcRect l="59373" r="16674" b="1"/>
          <a:stretch/>
        </p:blipFill>
        <p:spPr>
          <a:xfrm>
            <a:off x="8075346" y="2158175"/>
            <a:ext cx="1811232" cy="3308172"/>
          </a:xfrm>
          <a:prstGeom prst="rect">
            <a:avLst/>
          </a:prstGeom>
        </p:spPr>
      </p:pic>
    </p:spTree>
    <p:extLst>
      <p:ext uri="{BB962C8B-B14F-4D97-AF65-F5344CB8AC3E}">
        <p14:creationId xmlns:p14="http://schemas.microsoft.com/office/powerpoint/2010/main" val="3640211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00221-39BC-F149-2682-578D50AEA47C}"/>
              </a:ext>
            </a:extLst>
          </p:cNvPr>
          <p:cNvSpPr>
            <a:spLocks noGrp="1"/>
          </p:cNvSpPr>
          <p:nvPr>
            <p:ph type="title"/>
          </p:nvPr>
        </p:nvSpPr>
        <p:spPr>
          <a:xfrm>
            <a:off x="1130270" y="953324"/>
            <a:ext cx="9603275" cy="1049235"/>
          </a:xfrm>
        </p:spPr>
        <p:txBody>
          <a:bodyPr>
            <a:normAutofit/>
          </a:bodyPr>
          <a:lstStyle/>
          <a:p>
            <a:r>
              <a:rPr lang="en-IN" dirty="0"/>
              <a:t>CONCLUSIONS</a:t>
            </a:r>
          </a:p>
        </p:txBody>
      </p:sp>
      <p:sp>
        <p:nvSpPr>
          <p:cNvPr id="3" name="Content Placeholder 2">
            <a:extLst>
              <a:ext uri="{FF2B5EF4-FFF2-40B4-BE49-F238E27FC236}">
                <a16:creationId xmlns:a16="http://schemas.microsoft.com/office/drawing/2014/main" id="{FD9C5BBA-079E-8E15-2EFF-528D1F76F45E}"/>
              </a:ext>
            </a:extLst>
          </p:cNvPr>
          <p:cNvSpPr>
            <a:spLocks noGrp="1"/>
          </p:cNvSpPr>
          <p:nvPr>
            <p:ph idx="1"/>
          </p:nvPr>
        </p:nvSpPr>
        <p:spPr>
          <a:xfrm>
            <a:off x="1130270" y="2158175"/>
            <a:ext cx="5435733" cy="3308172"/>
          </a:xfrm>
        </p:spPr>
        <p:txBody>
          <a:bodyPr>
            <a:normAutofit/>
          </a:bodyPr>
          <a:lstStyle/>
          <a:p>
            <a:pPr>
              <a:lnSpc>
                <a:spcPct val="110000"/>
              </a:lnSpc>
            </a:pPr>
            <a:r>
              <a:rPr lang="en-US" sz="1100"/>
              <a:t>In conclusion, this research project focused on analyzing and predicting data science salaries in the year 2023. The dataset provided valuable insights into the factors influencing salary outcomes in the field of data science. Three machine learning models, namely Linear Regression, Random Forest Regressor, and </a:t>
            </a:r>
            <a:r>
              <a:rPr lang="en-US" sz="1100" err="1"/>
              <a:t>XGBoost</a:t>
            </a:r>
            <a:r>
              <a:rPr lang="en-US" sz="1100"/>
              <a:t>, were employed for salary prediction. Results showed that all models performed exceptionally well, with </a:t>
            </a:r>
            <a:r>
              <a:rPr lang="en-US" sz="1100" err="1"/>
              <a:t>XGBoost</a:t>
            </a:r>
            <a:r>
              <a:rPr lang="en-US" sz="1100"/>
              <a:t> demonstrating slightly higher accuracy and better feature importance measures. The findings highlight the significance of machine learning in predicting salaries accurately and identifying key factors affecting salary outcomes. Future work could involve exploring additional feature engineering techniques and incorporating more advanced algorithms to further enhance salary prediction accuracy. Overall, this study contributes to the understanding of data science salaries and provides valuable implications for salary benchmarking, negotiation support, and decision-making in the field of data science.</a:t>
            </a:r>
            <a:endParaRPr lang="en-IN" sz="1100"/>
          </a:p>
        </p:txBody>
      </p:sp>
      <p:grpSp>
        <p:nvGrpSpPr>
          <p:cNvPr id="10" name="Group 9">
            <a:extLst>
              <a:ext uri="{FF2B5EF4-FFF2-40B4-BE49-F238E27FC236}">
                <a16:creationId xmlns:a16="http://schemas.microsoft.com/office/drawing/2014/main" id="{1BF79C16-5D92-4339-930A-A3A5A2DD33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69104" y="2158175"/>
            <a:ext cx="3668069" cy="3308170"/>
            <a:chOff x="7807230" y="2012810"/>
            <a:chExt cx="3251252" cy="3459865"/>
          </a:xfrm>
        </p:grpSpPr>
        <p:sp>
          <p:nvSpPr>
            <p:cNvPr id="11" name="Rectangle 10">
              <a:extLst>
                <a:ext uri="{FF2B5EF4-FFF2-40B4-BE49-F238E27FC236}">
                  <a16:creationId xmlns:a16="http://schemas.microsoft.com/office/drawing/2014/main" id="{5D46B820-365A-40B8-94F4-9478AB35E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3687C9-4497-4877-B6E1-9727BC740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descr="Light bulb on yellow background with sketched light beams and cord">
            <a:extLst>
              <a:ext uri="{FF2B5EF4-FFF2-40B4-BE49-F238E27FC236}">
                <a16:creationId xmlns:a16="http://schemas.microsoft.com/office/drawing/2014/main" id="{7F90E70B-E4C3-FFC8-6654-C1B1FF681DF2}"/>
              </a:ext>
            </a:extLst>
          </p:cNvPr>
          <p:cNvPicPr>
            <a:picLocks noChangeAspect="1"/>
          </p:cNvPicPr>
          <p:nvPr/>
        </p:nvPicPr>
        <p:blipFill rotWithShape="1">
          <a:blip r:embed="rId2"/>
          <a:srcRect l="31218" r="1" b="1"/>
          <a:stretch/>
        </p:blipFill>
        <p:spPr>
          <a:xfrm>
            <a:off x="7232830" y="2314897"/>
            <a:ext cx="3336989" cy="2983696"/>
          </a:xfrm>
          <a:prstGeom prst="rect">
            <a:avLst/>
          </a:prstGeom>
        </p:spPr>
      </p:pic>
    </p:spTree>
    <p:extLst>
      <p:ext uri="{BB962C8B-B14F-4D97-AF65-F5344CB8AC3E}">
        <p14:creationId xmlns:p14="http://schemas.microsoft.com/office/powerpoint/2010/main" val="50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8690AC4-C9C4-4944-A98C-B1D32992D6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39" name="Rectangle 38">
            <a:extLst>
              <a:ext uri="{FF2B5EF4-FFF2-40B4-BE49-F238E27FC236}">
                <a16:creationId xmlns:a16="http://schemas.microsoft.com/office/drawing/2014/main" id="{86F828BE-4D4E-43F9-AC35-0209B5190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1" name="Straight Connector 40">
            <a:extLst>
              <a:ext uri="{FF2B5EF4-FFF2-40B4-BE49-F238E27FC236}">
                <a16:creationId xmlns:a16="http://schemas.microsoft.com/office/drawing/2014/main" id="{10BAB604-20D4-431F-ADD8-754BB7992A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C821979E-9A93-4880-80B5-D60B75C191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45" name="Rectangle 44">
            <a:extLst>
              <a:ext uri="{FF2B5EF4-FFF2-40B4-BE49-F238E27FC236}">
                <a16:creationId xmlns:a16="http://schemas.microsoft.com/office/drawing/2014/main" id="{D3F196F4-A988-40DF-899A-EC29C42214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4B8B3238-C65F-4148-9B84-4D22282CF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FE2CC7-95F1-D37A-0AE1-B32EB05E267B}"/>
              </a:ext>
            </a:extLst>
          </p:cNvPr>
          <p:cNvSpPr>
            <a:spLocks noGrp="1"/>
          </p:cNvSpPr>
          <p:nvPr>
            <p:ph type="title"/>
          </p:nvPr>
        </p:nvSpPr>
        <p:spPr>
          <a:xfrm>
            <a:off x="1776730" y="4459039"/>
            <a:ext cx="7831992" cy="551528"/>
          </a:xfrm>
        </p:spPr>
        <p:txBody>
          <a:bodyPr vert="horz" lIns="91440" tIns="45720" rIns="91440" bIns="0" rtlCol="0" anchor="b">
            <a:normAutofit/>
          </a:bodyPr>
          <a:lstStyle/>
          <a:p>
            <a:r>
              <a:rPr lang="en-US" sz="3600" dirty="0"/>
              <a:t>3D Model</a:t>
            </a:r>
          </a:p>
        </p:txBody>
      </p:sp>
      <p:pic>
        <p:nvPicPr>
          <p:cNvPr id="5" name="Content Placeholder 4">
            <a:extLst>
              <a:ext uri="{FF2B5EF4-FFF2-40B4-BE49-F238E27FC236}">
                <a16:creationId xmlns:a16="http://schemas.microsoft.com/office/drawing/2014/main" id="{D3581A1B-93A1-8009-32E5-DD24AF1B0C6B}"/>
              </a:ext>
            </a:extLst>
          </p:cNvPr>
          <p:cNvPicPr>
            <a:picLocks noGrp="1" noChangeAspect="1"/>
          </p:cNvPicPr>
          <p:nvPr>
            <p:ph idx="1"/>
          </p:nvPr>
        </p:nvPicPr>
        <p:blipFill>
          <a:blip r:embed="rId4"/>
          <a:stretch>
            <a:fillRect/>
          </a:stretch>
        </p:blipFill>
        <p:spPr>
          <a:xfrm>
            <a:off x="288133" y="643464"/>
            <a:ext cx="5725442" cy="3438183"/>
          </a:xfrm>
          <a:prstGeom prst="rect">
            <a:avLst/>
          </a:prstGeom>
        </p:spPr>
      </p:pic>
      <p:pic>
        <p:nvPicPr>
          <p:cNvPr id="7" name="Picture 6">
            <a:extLst>
              <a:ext uri="{FF2B5EF4-FFF2-40B4-BE49-F238E27FC236}">
                <a16:creationId xmlns:a16="http://schemas.microsoft.com/office/drawing/2014/main" id="{61F7A47B-C050-DBE7-E790-7612AF913A40}"/>
              </a:ext>
            </a:extLst>
          </p:cNvPr>
          <p:cNvPicPr>
            <a:picLocks noChangeAspect="1"/>
          </p:cNvPicPr>
          <p:nvPr/>
        </p:nvPicPr>
        <p:blipFill>
          <a:blip r:embed="rId5"/>
          <a:stretch>
            <a:fillRect/>
          </a:stretch>
        </p:blipFill>
        <p:spPr>
          <a:xfrm>
            <a:off x="6178426" y="973608"/>
            <a:ext cx="5808581" cy="3108040"/>
          </a:xfrm>
          <a:prstGeom prst="rect">
            <a:avLst/>
          </a:prstGeom>
        </p:spPr>
      </p:pic>
      <p:pic>
        <p:nvPicPr>
          <p:cNvPr id="49" name="Picture 48">
            <a:extLst>
              <a:ext uri="{FF2B5EF4-FFF2-40B4-BE49-F238E27FC236}">
                <a16:creationId xmlns:a16="http://schemas.microsoft.com/office/drawing/2014/main" id="{CFDC6AB1-03A5-4D20-ACE0-4957616E74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51" name="Straight Connector 50">
            <a:extLst>
              <a:ext uri="{FF2B5EF4-FFF2-40B4-BE49-F238E27FC236}">
                <a16:creationId xmlns:a16="http://schemas.microsoft.com/office/drawing/2014/main" id="{EB77A0BE-690A-4522-A429-39E717A173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062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983ED-CAA7-A0D9-0F36-5799C5257D20}"/>
              </a:ext>
            </a:extLst>
          </p:cNvPr>
          <p:cNvSpPr>
            <a:spLocks noGrp="1"/>
          </p:cNvSpPr>
          <p:nvPr>
            <p:ph type="title"/>
          </p:nvPr>
        </p:nvSpPr>
        <p:spPr>
          <a:xfrm>
            <a:off x="1526224" y="170037"/>
            <a:ext cx="9603275" cy="1049235"/>
          </a:xfrm>
        </p:spPr>
        <p:txBody>
          <a:bodyPr/>
          <a:lstStyle/>
          <a:p>
            <a:r>
              <a:rPr lang="en-IN" dirty="0"/>
              <a:t>Acknowledgment </a:t>
            </a:r>
          </a:p>
        </p:txBody>
      </p:sp>
      <p:sp>
        <p:nvSpPr>
          <p:cNvPr id="3" name="Content Placeholder 2">
            <a:extLst>
              <a:ext uri="{FF2B5EF4-FFF2-40B4-BE49-F238E27FC236}">
                <a16:creationId xmlns:a16="http://schemas.microsoft.com/office/drawing/2014/main" id="{181EB6BA-5639-0EDE-7E3B-1D7BB09F7C29}"/>
              </a:ext>
            </a:extLst>
          </p:cNvPr>
          <p:cNvSpPr>
            <a:spLocks noGrp="1"/>
          </p:cNvSpPr>
          <p:nvPr>
            <p:ph idx="1"/>
          </p:nvPr>
        </p:nvSpPr>
        <p:spPr/>
        <p:txBody>
          <a:bodyPr>
            <a:normAutofit/>
          </a:bodyPr>
          <a:lstStyle/>
          <a:p>
            <a:pPr marL="0" indent="0">
              <a:buNone/>
            </a:pPr>
            <a:r>
              <a:rPr lang="en-US" sz="2400" dirty="0"/>
              <a:t>We want to sincerely thank </a:t>
            </a:r>
            <a:r>
              <a:rPr lang="en-IN" sz="2400" b="1" i="0" dirty="0">
                <a:solidFill>
                  <a:srgbClr val="202124"/>
                </a:solidFill>
                <a:effectLst/>
                <a:latin typeface="Google Sans"/>
              </a:rPr>
              <a:t>Prof</a:t>
            </a:r>
            <a:r>
              <a:rPr lang="en-IN" sz="2400" b="0" i="0" dirty="0">
                <a:solidFill>
                  <a:srgbClr val="202124"/>
                </a:solidFill>
                <a:effectLst/>
                <a:latin typeface="Google Sans"/>
              </a:rPr>
              <a:t>.</a:t>
            </a:r>
            <a:r>
              <a:rPr lang="en-US" sz="2400" b="1" dirty="0"/>
              <a:t>Qurrat Ul Ain </a:t>
            </a:r>
            <a:r>
              <a:rPr lang="en-US" sz="2400" dirty="0"/>
              <a:t>for giving me the chance to work on this project, and We want to show my gratitude to her.</a:t>
            </a:r>
            <a:endParaRPr lang="en-US" sz="2800" dirty="0"/>
          </a:p>
          <a:p>
            <a:pPr marL="0" indent="0" algn="ctr">
              <a:buNone/>
            </a:pPr>
            <a:r>
              <a:rPr lang="en-US" sz="6600" dirty="0"/>
              <a:t>Thank You</a:t>
            </a:r>
            <a:endParaRPr lang="en-IN" sz="6600" dirty="0"/>
          </a:p>
        </p:txBody>
      </p:sp>
    </p:spTree>
    <p:extLst>
      <p:ext uri="{BB962C8B-B14F-4D97-AF65-F5344CB8AC3E}">
        <p14:creationId xmlns:p14="http://schemas.microsoft.com/office/powerpoint/2010/main" val="397956939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103</TotalTime>
  <Words>660</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Google Sans</vt:lpstr>
      <vt:lpstr>Gallery</vt:lpstr>
      <vt:lpstr>Domain Application and Predictive Analysis for Data Science Salaries     Group A </vt:lpstr>
      <vt:lpstr>INTRODUCTION &amp; MOTIVATION</vt:lpstr>
      <vt:lpstr>RESEARCH QUESTIONS </vt:lpstr>
      <vt:lpstr>METHODOLOGY </vt:lpstr>
      <vt:lpstr>Model Selection &amp; Evaluation</vt:lpstr>
      <vt:lpstr>BUSINESS VALUE</vt:lpstr>
      <vt:lpstr>CONCLUSIONS</vt:lpstr>
      <vt:lpstr>3D Model</vt:lpstr>
      <vt:lpstr>Acknowledgment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Application and Predictive Analysis for Data Science Salaries     Group A </dc:title>
  <dc:creator>Mohammad Saad Mohammad Muslim Shaikh</dc:creator>
  <cp:lastModifiedBy>Mohammad Saad Mohammad Muslim Shaikh</cp:lastModifiedBy>
  <cp:revision>6</cp:revision>
  <dcterms:created xsi:type="dcterms:W3CDTF">2023-08-09T14:46:35Z</dcterms:created>
  <dcterms:modified xsi:type="dcterms:W3CDTF">2023-08-09T19:22:02Z</dcterms:modified>
</cp:coreProperties>
</file>